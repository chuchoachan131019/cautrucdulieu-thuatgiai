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4630400" cy="8229600"/>
  <p:notesSz cx="8229600" cy="14630400"/>
  <p:embeddedFontLst>
    <p:embeddedFont>
      <p:font typeface=".VnArial Narrow" panose="020B7200000000000000" pitchFamily="34" charset="0"/>
      <p:regular r:id="rId13"/>
      <p:bold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elasio" panose="020B0604020202020204" charset="0"/>
      <p:regular r:id="rId20"/>
    </p:embeddedFont>
    <p:embeddedFont>
      <p:font typeface="Gelasio Semi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237"/>
    <a:srgbClr val="F9F6F0"/>
    <a:srgbClr val="FDF6E6"/>
    <a:srgbClr val="EEE8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0" d="100"/>
          <a:sy n="40" d="100"/>
        </p:scale>
        <p:origin x="46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44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3C82-50AF-C6BB-412C-923063AB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EAEEC-8B4B-1C67-178E-3FA264646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68CBE-C9D7-A514-C371-EFE1A7F9A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F8509-7340-9689-EDF5-E506B5CAE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6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961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9680" y="1987616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Quản lý thiết bị y tế trên cây nhị phân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1940312" y="4767634"/>
            <a:ext cx="4683513" cy="207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3">
              <a:lnSpc>
                <a:spcPts val="2850"/>
              </a:lnSpc>
            </a:pPr>
            <a:r>
              <a:rPr lang="en-US" sz="2400" b="1" u="sng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NHÓM 3:</a:t>
            </a:r>
          </a:p>
          <a:p>
            <a:pPr marL="342900" indent="-342900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2312609 Nguyễn </a:t>
            </a:r>
            <a:r>
              <a:rPr lang="en-US" sz="1750" dirty="0" err="1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Ngọc</a:t>
            </a: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Thanh </a:t>
            </a:r>
            <a:r>
              <a:rPr lang="en-US" sz="1750" dirty="0" err="1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Hiền</a:t>
            </a:r>
            <a:endParaRPr lang="en-US" sz="1750" dirty="0">
              <a:solidFill>
                <a:srgbClr val="746558"/>
              </a:solidFill>
              <a:latin typeface="Times New Roman" panose="02020603050405020304" pitchFamily="18" charset="0"/>
              <a:ea typeface="Gelasio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2312693  Nguyễn Thị Trà My</a:t>
            </a:r>
          </a:p>
          <a:p>
            <a:pPr marL="342900" indent="-342900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2314288 </a:t>
            </a:r>
            <a:r>
              <a:rPr lang="en-US" sz="1750" dirty="0" err="1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Trần</a:t>
            </a: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Thị </a:t>
            </a:r>
            <a:r>
              <a:rPr lang="en-US" sz="1750" dirty="0" err="1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Phương</a:t>
            </a: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Trang</a:t>
            </a:r>
          </a:p>
          <a:p>
            <a:pPr marL="342900" indent="-342900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2312663 </a:t>
            </a:r>
            <a:r>
              <a:rPr lang="en-US" sz="1750" dirty="0" err="1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Đỗ</a:t>
            </a: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Đặng</a:t>
            </a: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Diệu</a:t>
            </a:r>
            <a:r>
              <a:rPr lang="en-US" sz="1750" dirty="0">
                <a:solidFill>
                  <a:srgbClr val="746558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Linh</a:t>
            </a:r>
          </a:p>
          <a:p>
            <a:pPr marL="342900" indent="-342900">
              <a:lnSpc>
                <a:spcPts val="2850"/>
              </a:lnSpc>
              <a:buFont typeface="+mj-lt"/>
              <a:buAutoNum type="arabicPeriod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hân loại trang thiết bị y tế dựa trên mức độ rủi ro">
            <a:extLst>
              <a:ext uri="{FF2B5EF4-FFF2-40B4-BE49-F238E27FC236}">
                <a16:creationId xmlns:a16="http://schemas.microsoft.com/office/drawing/2014/main" id="{E76952BF-4782-2F6F-B978-F1D882656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621" y="0"/>
            <a:ext cx="6871779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38103" y="2039964"/>
            <a:ext cx="7876275" cy="1662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Giới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thiệu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cấu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trúc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cây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nhị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phân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tìm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kiếm</a:t>
            </a:r>
            <a:endParaRPr lang="en-US" sz="445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17CDE4-21F2-2D08-D9E2-9844129A30B0}"/>
              </a:ext>
            </a:extLst>
          </p:cNvPr>
          <p:cNvGrpSpPr/>
          <p:nvPr/>
        </p:nvGrpSpPr>
        <p:grpSpPr>
          <a:xfrm>
            <a:off x="566976" y="5031466"/>
            <a:ext cx="4196358" cy="2100182"/>
            <a:chOff x="793790" y="5040511"/>
            <a:chExt cx="4196358" cy="2032754"/>
          </a:xfrm>
        </p:grpSpPr>
        <p:sp>
          <p:nvSpPr>
            <p:cNvPr id="4" name="Shape 1"/>
            <p:cNvSpPr/>
            <p:nvPr/>
          </p:nvSpPr>
          <p:spPr>
            <a:xfrm>
              <a:off x="793790" y="5040511"/>
              <a:ext cx="4196358" cy="2032754"/>
            </a:xfrm>
            <a:prstGeom prst="roundRect">
              <a:avLst>
                <a:gd name="adj" fmla="val 1674"/>
              </a:avLst>
            </a:prstGeom>
            <a:solidFill>
              <a:srgbClr val="EEE8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2"/>
            <p:cNvSpPr/>
            <p:nvPr/>
          </p:nvSpPr>
          <p:spPr>
            <a:xfrm>
              <a:off x="1020604" y="5267325"/>
              <a:ext cx="3031450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Cấu trúc cây nhị phân</a:t>
              </a:r>
              <a:endParaRPr lang="en-US" sz="2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020604" y="5757743"/>
              <a:ext cx="3742730" cy="1088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Mỗi nút trong cây nhị phân có tối đa hai nút con, được gọi là nút con trái và nút con phải.</a:t>
              </a:r>
              <a:endParaRPr lang="en-US" sz="175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490B9B-6317-674F-FD2C-713A27E4EB8A}"/>
              </a:ext>
            </a:extLst>
          </p:cNvPr>
          <p:cNvGrpSpPr/>
          <p:nvPr/>
        </p:nvGrpSpPr>
        <p:grpSpPr>
          <a:xfrm>
            <a:off x="5115795" y="5026089"/>
            <a:ext cx="4196358" cy="2105557"/>
            <a:chOff x="5216962" y="5040511"/>
            <a:chExt cx="4196358" cy="2032754"/>
          </a:xfrm>
        </p:grpSpPr>
        <p:sp>
          <p:nvSpPr>
            <p:cNvPr id="7" name="Shape 4"/>
            <p:cNvSpPr/>
            <p:nvPr/>
          </p:nvSpPr>
          <p:spPr>
            <a:xfrm>
              <a:off x="5216962" y="5040511"/>
              <a:ext cx="4196358" cy="2032754"/>
            </a:xfrm>
            <a:prstGeom prst="roundRect">
              <a:avLst>
                <a:gd name="adj" fmla="val 1674"/>
              </a:avLst>
            </a:prstGeom>
            <a:solidFill>
              <a:srgbClr val="EEE8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5443776" y="526732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Nút gốc</a:t>
              </a:r>
              <a:endParaRPr lang="en-US" sz="2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443776" y="5757743"/>
              <a:ext cx="37427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Nút gốc là nút đầu tiên của cây, không có nút cha.</a:t>
              </a:r>
              <a:endParaRPr lang="en-US" sz="175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86B8F2F-5DB5-F6C2-C716-CAA6EF89B8BC}"/>
              </a:ext>
            </a:extLst>
          </p:cNvPr>
          <p:cNvGrpSpPr/>
          <p:nvPr/>
        </p:nvGrpSpPr>
        <p:grpSpPr>
          <a:xfrm>
            <a:off x="9640252" y="5026089"/>
            <a:ext cx="4196358" cy="2105558"/>
            <a:chOff x="9640133" y="5040511"/>
            <a:chExt cx="4196358" cy="2032754"/>
          </a:xfrm>
        </p:grpSpPr>
        <p:sp>
          <p:nvSpPr>
            <p:cNvPr id="10" name="Shape 7"/>
            <p:cNvSpPr/>
            <p:nvPr/>
          </p:nvSpPr>
          <p:spPr>
            <a:xfrm>
              <a:off x="9640133" y="5040511"/>
              <a:ext cx="4196358" cy="2032754"/>
            </a:xfrm>
            <a:prstGeom prst="roundRect">
              <a:avLst>
                <a:gd name="adj" fmla="val 1674"/>
              </a:avLst>
            </a:prstGeom>
            <a:solidFill>
              <a:srgbClr val="EEE8DD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9866948" y="526732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Nút lá</a:t>
              </a:r>
              <a:endParaRPr lang="en-US" sz="2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866948" y="5757743"/>
              <a:ext cx="3742730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Nút lá là nút không có nút con.</a:t>
              </a:r>
              <a:endParaRPr lang="en-US" sz="175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38D7722-8835-0ADA-4B06-AE147E79D6C8}"/>
              </a:ext>
            </a:extLst>
          </p:cNvPr>
          <p:cNvSpPr/>
          <p:nvPr/>
        </p:nvSpPr>
        <p:spPr>
          <a:xfrm>
            <a:off x="12644254" y="7439153"/>
            <a:ext cx="1922816" cy="70268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FC1220-DF4F-4886-8AEB-9A4DEBD96745}"/>
              </a:ext>
            </a:extLst>
          </p:cNvPr>
          <p:cNvGrpSpPr/>
          <p:nvPr/>
        </p:nvGrpSpPr>
        <p:grpSpPr>
          <a:xfrm>
            <a:off x="793790" y="730902"/>
            <a:ext cx="4603039" cy="2936390"/>
            <a:chOff x="723268" y="161219"/>
            <a:chExt cx="4603039" cy="293639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573A263-FD39-419C-9AA6-12B1134BFD15}"/>
                </a:ext>
              </a:extLst>
            </p:cNvPr>
            <p:cNvGrpSpPr/>
            <p:nvPr/>
          </p:nvGrpSpPr>
          <p:grpSpPr>
            <a:xfrm>
              <a:off x="723268" y="910110"/>
              <a:ext cx="4603039" cy="2187499"/>
              <a:chOff x="723268" y="910110"/>
              <a:chExt cx="4603039" cy="21874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30A7816-B583-5BE4-3AB3-8604B45A2821}"/>
                  </a:ext>
                </a:extLst>
              </p:cNvPr>
              <p:cNvGrpSpPr/>
              <p:nvPr/>
            </p:nvGrpSpPr>
            <p:grpSpPr>
              <a:xfrm>
                <a:off x="1945873" y="910110"/>
                <a:ext cx="1798321" cy="676403"/>
                <a:chOff x="1645920" y="957874"/>
                <a:chExt cx="1798321" cy="676403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824EA55-263A-B7D7-125F-12868C6C5DC6}"/>
                    </a:ext>
                  </a:extLst>
                </p:cNvPr>
                <p:cNvSpPr/>
                <p:nvPr/>
              </p:nvSpPr>
              <p:spPr>
                <a:xfrm>
                  <a:off x="1645920" y="957874"/>
                  <a:ext cx="548640" cy="670560"/>
                </a:xfrm>
                <a:prstGeom prst="rect">
                  <a:avLst/>
                </a:prstGeom>
                <a:solidFill>
                  <a:srgbClr val="EEE8D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847299A-C148-162D-395C-74DCAF728275}"/>
                    </a:ext>
                  </a:extLst>
                </p:cNvPr>
                <p:cNvSpPr/>
                <p:nvPr/>
              </p:nvSpPr>
              <p:spPr>
                <a:xfrm>
                  <a:off x="2197371" y="957874"/>
                  <a:ext cx="698229" cy="670560"/>
                </a:xfrm>
                <a:prstGeom prst="rect">
                  <a:avLst/>
                </a:prstGeom>
                <a:solidFill>
                  <a:srgbClr val="EEE8D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C832512-3253-D861-013F-A53D3673A1F6}"/>
                    </a:ext>
                  </a:extLst>
                </p:cNvPr>
                <p:cNvSpPr/>
                <p:nvPr/>
              </p:nvSpPr>
              <p:spPr>
                <a:xfrm>
                  <a:off x="2895601" y="963717"/>
                  <a:ext cx="548640" cy="670560"/>
                </a:xfrm>
                <a:prstGeom prst="rect">
                  <a:avLst/>
                </a:prstGeom>
                <a:solidFill>
                  <a:srgbClr val="EEE8D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3D11961-06A2-BBEB-38DB-5018CAE7D0FF}"/>
                  </a:ext>
                </a:extLst>
              </p:cNvPr>
              <p:cNvSpPr/>
              <p:nvPr/>
            </p:nvSpPr>
            <p:spPr>
              <a:xfrm>
                <a:off x="723268" y="2405936"/>
                <a:ext cx="548640" cy="670560"/>
              </a:xfrm>
              <a:prstGeom prst="rect">
                <a:avLst/>
              </a:prstGeom>
              <a:solidFill>
                <a:srgbClr val="EEE8D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5B09032-C83A-92EF-764B-264A1D848796}"/>
                  </a:ext>
                </a:extLst>
              </p:cNvPr>
              <p:cNvSpPr/>
              <p:nvPr/>
            </p:nvSpPr>
            <p:spPr>
              <a:xfrm>
                <a:off x="1274719" y="2405936"/>
                <a:ext cx="698229" cy="670560"/>
              </a:xfrm>
              <a:prstGeom prst="rect">
                <a:avLst/>
              </a:prstGeom>
              <a:solidFill>
                <a:srgbClr val="EEE8D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FB6C163-ECA4-F47B-BC18-B40E13A145B3}"/>
                  </a:ext>
                </a:extLst>
              </p:cNvPr>
              <p:cNvSpPr/>
              <p:nvPr/>
            </p:nvSpPr>
            <p:spPr>
              <a:xfrm>
                <a:off x="1972949" y="2402352"/>
                <a:ext cx="548640" cy="670560"/>
              </a:xfrm>
              <a:prstGeom prst="rect">
                <a:avLst/>
              </a:prstGeom>
              <a:solidFill>
                <a:srgbClr val="EEE8D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8037CDE-1BB8-CCED-F2C8-4B84831BB370}"/>
                  </a:ext>
                </a:extLst>
              </p:cNvPr>
              <p:cNvSpPr/>
              <p:nvPr/>
            </p:nvSpPr>
            <p:spPr>
              <a:xfrm>
                <a:off x="3226034" y="2427019"/>
                <a:ext cx="548640" cy="670560"/>
              </a:xfrm>
              <a:prstGeom prst="rect">
                <a:avLst/>
              </a:prstGeom>
              <a:solidFill>
                <a:srgbClr val="EEE8D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55F81C1-28A8-C663-95D0-2CEA6AD2ED6C}"/>
                  </a:ext>
                </a:extLst>
              </p:cNvPr>
              <p:cNvSpPr/>
              <p:nvPr/>
            </p:nvSpPr>
            <p:spPr>
              <a:xfrm>
                <a:off x="3777485" y="2427019"/>
                <a:ext cx="698229" cy="670560"/>
              </a:xfrm>
              <a:prstGeom prst="rect">
                <a:avLst/>
              </a:prstGeom>
              <a:solidFill>
                <a:srgbClr val="EEE8D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A1F5794-3A52-6A0A-32C2-2571DE9C5A3A}"/>
                  </a:ext>
                </a:extLst>
              </p:cNvPr>
              <p:cNvSpPr/>
              <p:nvPr/>
            </p:nvSpPr>
            <p:spPr>
              <a:xfrm>
                <a:off x="4475715" y="2427049"/>
                <a:ext cx="548640" cy="670560"/>
              </a:xfrm>
              <a:prstGeom prst="rect">
                <a:avLst/>
              </a:prstGeom>
              <a:solidFill>
                <a:srgbClr val="EEE8D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720D9F90-4917-9374-2DC7-541DB8DA342F}"/>
                  </a:ext>
                </a:extLst>
              </p:cNvPr>
              <p:cNvCxnSpPr/>
              <p:nvPr/>
            </p:nvCxnSpPr>
            <p:spPr>
              <a:xfrm>
                <a:off x="3469874" y="1245390"/>
                <a:ext cx="656725" cy="11605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59E86D10-82BE-3EA8-3CA5-45D84C4EA5FC}"/>
                  </a:ext>
                </a:extLst>
              </p:cNvPr>
              <p:cNvCxnSpPr>
                <a:endCxn id="27" idx="0"/>
              </p:cNvCxnSpPr>
              <p:nvPr/>
            </p:nvCxnSpPr>
            <p:spPr>
              <a:xfrm flipH="1">
                <a:off x="1623834" y="1245390"/>
                <a:ext cx="623435" cy="11605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CCCED9-A50E-BAB8-E158-331E78EC1D86}"/>
                  </a:ext>
                </a:extLst>
              </p:cNvPr>
              <p:cNvSpPr txBox="1"/>
              <p:nvPr/>
            </p:nvSpPr>
            <p:spPr>
              <a:xfrm>
                <a:off x="765367" y="1747576"/>
                <a:ext cx="11805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left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64F97E-8F12-CC4A-4D84-286FCAE03400}"/>
                  </a:ext>
                </a:extLst>
              </p:cNvPr>
              <p:cNvSpPr txBox="1"/>
              <p:nvPr/>
            </p:nvSpPr>
            <p:spPr>
              <a:xfrm>
                <a:off x="4200360" y="1771762"/>
                <a:ext cx="112594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right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AE22A74-1A9E-C21C-71C5-A450948C8EC0}"/>
                </a:ext>
              </a:extLst>
            </p:cNvPr>
            <p:cNvSpPr txBox="1"/>
            <p:nvPr/>
          </p:nvSpPr>
          <p:spPr>
            <a:xfrm>
              <a:off x="2402371" y="161219"/>
              <a:ext cx="105636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root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6662" y="465892"/>
            <a:ext cx="124792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Các chức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năng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cơ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bản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để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quản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lý thiết bị y tế</a:t>
            </a:r>
            <a:endParaRPr lang="en-US" sz="44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9A3154-6587-A18F-D573-5759119501DC}"/>
              </a:ext>
            </a:extLst>
          </p:cNvPr>
          <p:cNvGrpSpPr/>
          <p:nvPr/>
        </p:nvGrpSpPr>
        <p:grpSpPr>
          <a:xfrm>
            <a:off x="916662" y="3751498"/>
            <a:ext cx="3978116" cy="917018"/>
            <a:chOff x="778669" y="2967155"/>
            <a:chExt cx="3978116" cy="917018"/>
          </a:xfrm>
        </p:grpSpPr>
        <p:sp>
          <p:nvSpPr>
            <p:cNvPr id="5" name="Text 3"/>
            <p:cNvSpPr/>
            <p:nvPr/>
          </p:nvSpPr>
          <p:spPr>
            <a:xfrm>
              <a:off x="793790" y="296715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Xuất dữ liệu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78669" y="3521270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Hiển thị danh sách thiết bị hiện có.</a:t>
              </a:r>
              <a:endParaRPr lang="en-US" sz="2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58038DB-B9C8-6A9C-D05C-A46BA7173A27}"/>
              </a:ext>
            </a:extLst>
          </p:cNvPr>
          <p:cNvGrpSpPr/>
          <p:nvPr/>
        </p:nvGrpSpPr>
        <p:grpSpPr>
          <a:xfrm>
            <a:off x="916662" y="5567782"/>
            <a:ext cx="5881211" cy="1037749"/>
            <a:chOff x="778668" y="4174331"/>
            <a:chExt cx="5881211" cy="1037749"/>
          </a:xfrm>
        </p:grpSpPr>
        <p:sp>
          <p:nvSpPr>
            <p:cNvPr id="7" name="Text 5"/>
            <p:cNvSpPr/>
            <p:nvPr/>
          </p:nvSpPr>
          <p:spPr>
            <a:xfrm>
              <a:off x="778669" y="4174331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Tìm kiếm</a:t>
              </a:r>
              <a:endParaRPr lang="en-US" sz="2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78668" y="4696899"/>
              <a:ext cx="5881211" cy="5151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Tra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cứu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các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thông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tin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của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bị dựa trên thông tin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có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sẵn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sz="2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CC1E11-7732-F3D3-EB1A-55DAA2E0C603}"/>
              </a:ext>
            </a:extLst>
          </p:cNvPr>
          <p:cNvGrpSpPr/>
          <p:nvPr/>
        </p:nvGrpSpPr>
        <p:grpSpPr>
          <a:xfrm>
            <a:off x="916663" y="1894007"/>
            <a:ext cx="3978116" cy="844272"/>
            <a:chOff x="778669" y="1741646"/>
            <a:chExt cx="3978116" cy="844272"/>
          </a:xfrm>
        </p:grpSpPr>
        <p:sp>
          <p:nvSpPr>
            <p:cNvPr id="13" name="Text 1">
              <a:extLst>
                <a:ext uri="{FF2B5EF4-FFF2-40B4-BE49-F238E27FC236}">
                  <a16:creationId xmlns:a16="http://schemas.microsoft.com/office/drawing/2014/main" id="{C36B3E2C-038D-B440-307E-FE6AFF16432D}"/>
                </a:ext>
              </a:extLst>
            </p:cNvPr>
            <p:cNvSpPr/>
            <p:nvPr/>
          </p:nvSpPr>
          <p:spPr>
            <a:xfrm>
              <a:off x="793790" y="1741646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Tạo dữ liệu</a:t>
              </a:r>
              <a:endParaRPr lang="en-US" sz="2200" dirty="0"/>
            </a:p>
          </p:txBody>
        </p:sp>
        <p:sp>
          <p:nvSpPr>
            <p:cNvPr id="14" name="Text 2">
              <a:extLst>
                <a:ext uri="{FF2B5EF4-FFF2-40B4-BE49-F238E27FC236}">
                  <a16:creationId xmlns:a16="http://schemas.microsoft.com/office/drawing/2014/main" id="{85E582D0-12F2-9A50-AD54-9CAFC6A49702}"/>
                </a:ext>
              </a:extLst>
            </p:cNvPr>
            <p:cNvSpPr/>
            <p:nvPr/>
          </p:nvSpPr>
          <p:spPr>
            <a:xfrm>
              <a:off x="778669" y="2223015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Nhập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dữ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liệu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của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bị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từ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file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có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sẵn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sz="2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CD236F-A48D-4288-3A8B-2708BCD65157}"/>
              </a:ext>
            </a:extLst>
          </p:cNvPr>
          <p:cNvGrpSpPr/>
          <p:nvPr/>
        </p:nvGrpSpPr>
        <p:grpSpPr>
          <a:xfrm>
            <a:off x="7315200" y="1826201"/>
            <a:ext cx="3978116" cy="844272"/>
            <a:chOff x="778669" y="1741646"/>
            <a:chExt cx="3978116" cy="844272"/>
          </a:xfrm>
        </p:grpSpPr>
        <p:sp>
          <p:nvSpPr>
            <p:cNvPr id="16" name="Text 1">
              <a:extLst>
                <a:ext uri="{FF2B5EF4-FFF2-40B4-BE49-F238E27FC236}">
                  <a16:creationId xmlns:a16="http://schemas.microsoft.com/office/drawing/2014/main" id="{3D904FF2-C7E0-9111-BED6-2E3EF28BED43}"/>
                </a:ext>
              </a:extLst>
            </p:cNvPr>
            <p:cNvSpPr/>
            <p:nvPr/>
          </p:nvSpPr>
          <p:spPr>
            <a:xfrm>
              <a:off x="793790" y="1741646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 err="1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Sắp</a:t>
              </a:r>
              <a:r>
                <a:rPr lang="en-US" sz="2200" dirty="0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xếp</a:t>
              </a:r>
              <a:endParaRPr lang="en-US" sz="2200" dirty="0"/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4E0E31BB-8B31-8764-CCDC-16DCCDA87FB8}"/>
                </a:ext>
              </a:extLst>
            </p:cNvPr>
            <p:cNvSpPr/>
            <p:nvPr/>
          </p:nvSpPr>
          <p:spPr>
            <a:xfrm>
              <a:off x="778669" y="2223015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Sắp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xếp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theo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thứ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tự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tăng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hoặc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giảm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để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dễ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dàng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kiểm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soát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sz="2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5A80C8-92BC-BCB9-29EA-F45DDCA30AA6}"/>
              </a:ext>
            </a:extLst>
          </p:cNvPr>
          <p:cNvGrpSpPr/>
          <p:nvPr/>
        </p:nvGrpSpPr>
        <p:grpSpPr>
          <a:xfrm>
            <a:off x="7315200" y="3659435"/>
            <a:ext cx="5649395" cy="910729"/>
            <a:chOff x="763548" y="1675189"/>
            <a:chExt cx="3993237" cy="910729"/>
          </a:xfrm>
        </p:grpSpPr>
        <p:sp>
          <p:nvSpPr>
            <p:cNvPr id="19" name="Text 1">
              <a:extLst>
                <a:ext uri="{FF2B5EF4-FFF2-40B4-BE49-F238E27FC236}">
                  <a16:creationId xmlns:a16="http://schemas.microsoft.com/office/drawing/2014/main" id="{AA5C400F-8B1B-72B8-1488-393563F46271}"/>
                </a:ext>
              </a:extLst>
            </p:cNvPr>
            <p:cNvSpPr/>
            <p:nvPr/>
          </p:nvSpPr>
          <p:spPr>
            <a:xfrm>
              <a:off x="763548" y="1675189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 err="1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Xóa</a:t>
              </a:r>
              <a:r>
                <a:rPr lang="en-US" sz="2200" dirty="0">
                  <a:solidFill>
                    <a:srgbClr val="484237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endParaRPr lang="en-US" sz="2200" dirty="0"/>
            </a:p>
          </p:txBody>
        </p:sp>
        <p:sp>
          <p:nvSpPr>
            <p:cNvPr id="20" name="Text 2">
              <a:extLst>
                <a:ext uri="{FF2B5EF4-FFF2-40B4-BE49-F238E27FC236}">
                  <a16:creationId xmlns:a16="http://schemas.microsoft.com/office/drawing/2014/main" id="{121AEAD1-3AB0-5A99-DC27-1FF0B3642037}"/>
                </a:ext>
              </a:extLst>
            </p:cNvPr>
            <p:cNvSpPr/>
            <p:nvPr/>
          </p:nvSpPr>
          <p:spPr>
            <a:xfrm>
              <a:off x="778669" y="2223015"/>
              <a:ext cx="397811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Xóa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những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bị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mà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người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dùng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cần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xóa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sz="2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BFE0C5-0304-5B8C-8852-1709B7ABA2FC}"/>
              </a:ext>
            </a:extLst>
          </p:cNvPr>
          <p:cNvGrpSpPr/>
          <p:nvPr/>
        </p:nvGrpSpPr>
        <p:grpSpPr>
          <a:xfrm>
            <a:off x="7315200" y="5475448"/>
            <a:ext cx="7493435" cy="1229803"/>
            <a:chOff x="778669" y="1741646"/>
            <a:chExt cx="3978116" cy="1229803"/>
          </a:xfrm>
        </p:grpSpPr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C7676F41-FD0A-8108-3A6D-A4DA4FBF24FC}"/>
                </a:ext>
              </a:extLst>
            </p:cNvPr>
            <p:cNvSpPr/>
            <p:nvPr/>
          </p:nvSpPr>
          <p:spPr>
            <a:xfrm>
              <a:off x="793790" y="1741646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 err="1">
                  <a:solidFill>
                    <a:srgbClr val="484237"/>
                  </a:solidFill>
                  <a:latin typeface="Gelasio Semi Bold" pitchFamily="34" charset="0"/>
                  <a:cs typeface="Gelasio Semi Bold" pitchFamily="34" charset="-120"/>
                </a:rPr>
                <a:t>Thêm</a:t>
              </a:r>
              <a:r>
                <a:rPr lang="en-US" sz="2200" dirty="0">
                  <a:solidFill>
                    <a:srgbClr val="484237"/>
                  </a:solidFill>
                  <a:latin typeface="Gelasio Semi Bold" pitchFamily="34" charset="0"/>
                  <a:cs typeface="Gelasio Semi Bold" pitchFamily="34" charset="-120"/>
                </a:rPr>
                <a:t> &amp; </a:t>
              </a:r>
              <a:r>
                <a:rPr lang="en-US" sz="2200" dirty="0" err="1">
                  <a:solidFill>
                    <a:srgbClr val="484237"/>
                  </a:solidFill>
                  <a:latin typeface="Gelasio Semi Bold" pitchFamily="34" charset="0"/>
                  <a:cs typeface="Gelasio Semi Bold" pitchFamily="34" charset="-120"/>
                </a:rPr>
                <a:t>Chỉnh</a:t>
              </a:r>
              <a:r>
                <a:rPr lang="en-US" sz="2200" dirty="0">
                  <a:solidFill>
                    <a:srgbClr val="484237"/>
                  </a:solidFill>
                  <a:latin typeface="Gelasio Semi Bold" pitchFamily="34" charset="0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484237"/>
                  </a:solidFill>
                  <a:latin typeface="Gelasio Semi Bold" pitchFamily="34" charset="0"/>
                  <a:cs typeface="Gelasio Semi Bold" pitchFamily="34" charset="-120"/>
                </a:rPr>
                <a:t>sửa</a:t>
              </a:r>
              <a:endParaRPr lang="en-US" sz="2200" dirty="0"/>
            </a:p>
          </p:txBody>
        </p:sp>
        <p:sp>
          <p:nvSpPr>
            <p:cNvPr id="23" name="Text 2">
              <a:extLst>
                <a:ext uri="{FF2B5EF4-FFF2-40B4-BE49-F238E27FC236}">
                  <a16:creationId xmlns:a16="http://schemas.microsoft.com/office/drawing/2014/main" id="{544CBCB5-D4D8-5A32-CA17-D9D29EF07D04}"/>
                </a:ext>
              </a:extLst>
            </p:cNvPr>
            <p:cNvSpPr/>
            <p:nvPr/>
          </p:nvSpPr>
          <p:spPr>
            <a:xfrm>
              <a:off x="778669" y="2223015"/>
              <a:ext cx="3978116" cy="7484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indent="-285750">
                <a:lnSpc>
                  <a:spcPts val="2850"/>
                </a:lnSpc>
                <a:buFontTx/>
                <a:buChar char="-"/>
              </a:pP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Thêm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thông tin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của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bị mới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vào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danh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sách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bị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</a:p>
            <a:p>
              <a:pPr marL="285750" indent="-285750">
                <a:lnSpc>
                  <a:spcPts val="2850"/>
                </a:lnSpc>
                <a:buFontTx/>
                <a:buChar char="-"/>
              </a:pP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Chỉnh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sửa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thông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tin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nếu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có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sai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sót</a:t>
              </a:r>
              <a:r>
                <a:rPr lang="en-US" sz="22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.</a:t>
              </a:r>
              <a:endParaRPr lang="en-US" sz="2200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1424D77-4AFD-BA16-AC58-876F231B6C91}"/>
              </a:ext>
            </a:extLst>
          </p:cNvPr>
          <p:cNvSpPr/>
          <p:nvPr/>
        </p:nvSpPr>
        <p:spPr>
          <a:xfrm>
            <a:off x="12644254" y="7439153"/>
            <a:ext cx="1922816" cy="70268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36207" y="685934"/>
            <a:ext cx="63428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Tạo dữ liệu thiết bị y tế</a:t>
            </a:r>
            <a:endParaRPr lang="en-US" sz="44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2EEB9C-A88E-9E54-39AA-AA35F184D825}"/>
              </a:ext>
            </a:extLst>
          </p:cNvPr>
          <p:cNvGrpSpPr/>
          <p:nvPr/>
        </p:nvGrpSpPr>
        <p:grpSpPr>
          <a:xfrm>
            <a:off x="822126" y="2025105"/>
            <a:ext cx="4196358" cy="872937"/>
            <a:chOff x="566976" y="1583412"/>
            <a:chExt cx="4196358" cy="872937"/>
          </a:xfrm>
        </p:grpSpPr>
        <p:sp>
          <p:nvSpPr>
            <p:cNvPr id="4" name="Shape 1"/>
            <p:cNvSpPr/>
            <p:nvPr/>
          </p:nvSpPr>
          <p:spPr>
            <a:xfrm>
              <a:off x="566976" y="1583412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EE8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2"/>
            <p:cNvSpPr/>
            <p:nvPr/>
          </p:nvSpPr>
          <p:spPr>
            <a:xfrm>
              <a:off x="741879" y="1668423"/>
              <a:ext cx="160496" cy="34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1</a:t>
              </a:r>
              <a:endParaRPr lang="en-US" sz="26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304092" y="158341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Mã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nhập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hàng</a:t>
              </a:r>
              <a:endParaRPr lang="en-US" sz="2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304092" y="2093446"/>
              <a:ext cx="345924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Mã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số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duy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nhất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để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nhận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dạng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bị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65D32A-F2B8-2CA7-AC06-61ECC93A76C4}"/>
              </a:ext>
            </a:extLst>
          </p:cNvPr>
          <p:cNvGrpSpPr/>
          <p:nvPr/>
        </p:nvGrpSpPr>
        <p:grpSpPr>
          <a:xfrm>
            <a:off x="778397" y="3979696"/>
            <a:ext cx="4196358" cy="1216224"/>
            <a:chOff x="5216962" y="5576292"/>
            <a:chExt cx="4196358" cy="1216224"/>
          </a:xfrm>
        </p:grpSpPr>
        <p:sp>
          <p:nvSpPr>
            <p:cNvPr id="8" name="Shape 5"/>
            <p:cNvSpPr/>
            <p:nvPr/>
          </p:nvSpPr>
          <p:spPr>
            <a:xfrm>
              <a:off x="5216962" y="5576292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EE8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5369004" y="5661303"/>
              <a:ext cx="206216" cy="34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2</a:t>
              </a:r>
              <a:endParaRPr lang="en-US" sz="26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954078" y="557629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Tên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thiết bị</a:t>
              </a:r>
              <a:endParaRPr lang="en-US" sz="2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954078" y="6066711"/>
              <a:ext cx="3459242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Tên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đầy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đủ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của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bị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y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tế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sz="1750" dirty="0"/>
            </a:p>
            <a:p>
              <a:pPr marL="0" indent="0">
                <a:lnSpc>
                  <a:spcPts val="2850"/>
                </a:lnSpc>
                <a:buNone/>
              </a:pP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762C2B-5403-44E4-5DC8-515789124CDF}"/>
              </a:ext>
            </a:extLst>
          </p:cNvPr>
          <p:cNvGrpSpPr/>
          <p:nvPr/>
        </p:nvGrpSpPr>
        <p:grpSpPr>
          <a:xfrm>
            <a:off x="778397" y="5906099"/>
            <a:ext cx="5178504" cy="776883"/>
            <a:chOff x="9640133" y="5576292"/>
            <a:chExt cx="5178504" cy="776883"/>
          </a:xfrm>
        </p:grpSpPr>
        <p:sp>
          <p:nvSpPr>
            <p:cNvPr id="12" name="Shape 9"/>
            <p:cNvSpPr/>
            <p:nvPr/>
          </p:nvSpPr>
          <p:spPr>
            <a:xfrm>
              <a:off x="9640133" y="5576292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EE8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9792772" y="5661303"/>
              <a:ext cx="205026" cy="34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3</a:t>
              </a:r>
              <a:endParaRPr lang="en-US" sz="26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0377249" y="5576292"/>
              <a:ext cx="4441388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Ngày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/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tháng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/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năm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nhập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, 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sử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dụng</a:t>
              </a:r>
              <a:endParaRPr lang="en-US" sz="2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0420978" y="5990272"/>
              <a:ext cx="345924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endParaRPr lang="en-US" sz="175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7202C-FC33-5850-D24D-F8783CD5A383}"/>
              </a:ext>
            </a:extLst>
          </p:cNvPr>
          <p:cNvSpPr/>
          <p:nvPr/>
        </p:nvSpPr>
        <p:spPr>
          <a:xfrm>
            <a:off x="12644254" y="7439153"/>
            <a:ext cx="1922816" cy="70268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55FA3D-C06D-BF9B-661D-319A9B92F052}"/>
              </a:ext>
            </a:extLst>
          </p:cNvPr>
          <p:cNvGrpSpPr/>
          <p:nvPr/>
        </p:nvGrpSpPr>
        <p:grpSpPr>
          <a:xfrm>
            <a:off x="8447896" y="2025105"/>
            <a:ext cx="4196358" cy="1293081"/>
            <a:chOff x="566976" y="6275516"/>
            <a:chExt cx="4196358" cy="12930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802C625-4B3F-7699-E011-0D91943D7E0A}"/>
                </a:ext>
              </a:extLst>
            </p:cNvPr>
            <p:cNvGrpSpPr/>
            <p:nvPr/>
          </p:nvGrpSpPr>
          <p:grpSpPr>
            <a:xfrm>
              <a:off x="566976" y="6275516"/>
              <a:ext cx="4196358" cy="872937"/>
              <a:chOff x="566976" y="1583412"/>
              <a:chExt cx="4196358" cy="872937"/>
            </a:xfrm>
          </p:grpSpPr>
          <p:sp>
            <p:nvSpPr>
              <p:cNvPr id="21" name="Shape 1">
                <a:extLst>
                  <a:ext uri="{FF2B5EF4-FFF2-40B4-BE49-F238E27FC236}">
                    <a16:creationId xmlns:a16="http://schemas.microsoft.com/office/drawing/2014/main" id="{C76AD66E-F31A-356F-E331-67252998D63B}"/>
                  </a:ext>
                </a:extLst>
              </p:cNvPr>
              <p:cNvSpPr/>
              <p:nvPr/>
            </p:nvSpPr>
            <p:spPr>
              <a:xfrm>
                <a:off x="566976" y="1583412"/>
                <a:ext cx="510302" cy="510302"/>
              </a:xfrm>
              <a:prstGeom prst="roundRect">
                <a:avLst>
                  <a:gd name="adj" fmla="val 6667"/>
                </a:avLst>
              </a:prstGeom>
              <a:solidFill>
                <a:srgbClr val="EEE8DD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2">
                <a:extLst>
                  <a:ext uri="{FF2B5EF4-FFF2-40B4-BE49-F238E27FC236}">
                    <a16:creationId xmlns:a16="http://schemas.microsoft.com/office/drawing/2014/main" id="{91F5B9B2-C7B3-AEB3-43B6-105092726286}"/>
                  </a:ext>
                </a:extLst>
              </p:cNvPr>
              <p:cNvSpPr/>
              <p:nvPr/>
            </p:nvSpPr>
            <p:spPr>
              <a:xfrm>
                <a:off x="741879" y="1668423"/>
                <a:ext cx="160496" cy="34028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650"/>
                  </a:lnSpc>
                  <a:buNone/>
                </a:pPr>
                <a:r>
                  <a:rPr lang="en-US" sz="265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4</a:t>
                </a:r>
                <a:endParaRPr lang="en-US" sz="2650" dirty="0"/>
              </a:p>
            </p:txBody>
          </p:sp>
          <p:sp>
            <p:nvSpPr>
              <p:cNvPr id="23" name="Text 3">
                <a:extLst>
                  <a:ext uri="{FF2B5EF4-FFF2-40B4-BE49-F238E27FC236}">
                    <a16:creationId xmlns:a16="http://schemas.microsoft.com/office/drawing/2014/main" id="{BD4B9D84-4CEB-3807-EFBD-E646525A6BB9}"/>
                  </a:ext>
                </a:extLst>
              </p:cNvPr>
              <p:cNvSpPr/>
              <p:nvPr/>
            </p:nvSpPr>
            <p:spPr>
              <a:xfrm>
                <a:off x="1304092" y="1583412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>
                  <a:lnSpc>
                    <a:spcPts val="2750"/>
                  </a:lnSpc>
                  <a:buNone/>
                </a:pPr>
                <a:r>
                  <a:rPr lang="en-US" sz="2200" dirty="0" err="1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Số</a:t>
                </a:r>
                <a:r>
                  <a:rPr lang="en-US" sz="22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 </a:t>
                </a:r>
                <a:r>
                  <a:rPr lang="en-US" sz="2200" dirty="0" err="1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lượng</a:t>
                </a:r>
                <a:r>
                  <a:rPr lang="en-US" sz="22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 </a:t>
                </a:r>
                <a:endParaRPr lang="en-US" sz="2200" dirty="0"/>
              </a:p>
            </p:txBody>
          </p:sp>
          <p:sp>
            <p:nvSpPr>
              <p:cNvPr id="24" name="Text 4">
                <a:extLst>
                  <a:ext uri="{FF2B5EF4-FFF2-40B4-BE49-F238E27FC236}">
                    <a16:creationId xmlns:a16="http://schemas.microsoft.com/office/drawing/2014/main" id="{8473B16D-2583-5416-F28C-7ACF14309C16}"/>
                  </a:ext>
                </a:extLst>
              </p:cNvPr>
              <p:cNvSpPr/>
              <p:nvPr/>
            </p:nvSpPr>
            <p:spPr>
              <a:xfrm>
                <a:off x="1304092" y="2093446"/>
                <a:ext cx="3459242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850"/>
                  </a:lnSpc>
                </a:pPr>
                <a:endParaRPr lang="en-US" sz="1750" dirty="0"/>
              </a:p>
            </p:txBody>
          </p:sp>
        </p:grp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9A18A859-B8EA-2B9A-4C46-F65D210F9B4C}"/>
                </a:ext>
              </a:extLst>
            </p:cNvPr>
            <p:cNvSpPr/>
            <p:nvPr/>
          </p:nvSpPr>
          <p:spPr>
            <a:xfrm>
              <a:off x="1296727" y="6842792"/>
              <a:ext cx="3459242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2850"/>
                </a:lnSpc>
                <a:buNone/>
              </a:pP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Báo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cáo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số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lượng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của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thiết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bị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ea typeface="Gelasio" pitchFamily="34" charset="-122"/>
                  <a:cs typeface="Gelasio" pitchFamily="34" charset="-120"/>
                </a:rPr>
                <a:t>.</a:t>
              </a:r>
              <a:endParaRPr lang="en-US" sz="1750" dirty="0"/>
            </a:p>
            <a:p>
              <a:pPr marL="0" indent="0">
                <a:lnSpc>
                  <a:spcPts val="2850"/>
                </a:lnSpc>
                <a:buNone/>
              </a:pPr>
              <a:endParaRPr lang="en-US" sz="17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48D1B6-2F3F-F560-F48B-F26F886FB4E4}"/>
              </a:ext>
            </a:extLst>
          </p:cNvPr>
          <p:cNvGrpSpPr/>
          <p:nvPr/>
        </p:nvGrpSpPr>
        <p:grpSpPr>
          <a:xfrm>
            <a:off x="8480141" y="3921902"/>
            <a:ext cx="5300424" cy="872937"/>
            <a:chOff x="566976" y="1583412"/>
            <a:chExt cx="5300424" cy="872937"/>
          </a:xfrm>
        </p:grpSpPr>
        <p:sp>
          <p:nvSpPr>
            <p:cNvPr id="27" name="Shape 1">
              <a:extLst>
                <a:ext uri="{FF2B5EF4-FFF2-40B4-BE49-F238E27FC236}">
                  <a16:creationId xmlns:a16="http://schemas.microsoft.com/office/drawing/2014/main" id="{D528F806-0C4E-772D-4EE0-F952EA60C353}"/>
                </a:ext>
              </a:extLst>
            </p:cNvPr>
            <p:cNvSpPr/>
            <p:nvPr/>
          </p:nvSpPr>
          <p:spPr>
            <a:xfrm>
              <a:off x="566976" y="1583412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EEE8D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">
              <a:extLst>
                <a:ext uri="{FF2B5EF4-FFF2-40B4-BE49-F238E27FC236}">
                  <a16:creationId xmlns:a16="http://schemas.microsoft.com/office/drawing/2014/main" id="{F3975FB2-B529-7AF1-E8CD-950E041BE59E}"/>
                </a:ext>
              </a:extLst>
            </p:cNvPr>
            <p:cNvSpPr/>
            <p:nvPr/>
          </p:nvSpPr>
          <p:spPr>
            <a:xfrm>
              <a:off x="741879" y="1668423"/>
              <a:ext cx="160496" cy="340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746558"/>
                  </a:solidFill>
                  <a:latin typeface="Gelasio Semi Bold" pitchFamily="34" charset="0"/>
                  <a:cs typeface="Gelasio Semi Bold" pitchFamily="34" charset="-120"/>
                </a:rPr>
                <a:t>5</a:t>
              </a:r>
              <a:endParaRPr lang="en-US" sz="2650" dirty="0"/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6229544E-C864-2E6F-1934-E0611A6F1FC3}"/>
                </a:ext>
              </a:extLst>
            </p:cNvPr>
            <p:cNvSpPr/>
            <p:nvPr/>
          </p:nvSpPr>
          <p:spPr>
            <a:xfrm>
              <a:off x="1304092" y="158341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750"/>
                </a:lnSpc>
                <a:buNone/>
              </a:pP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Phòng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sử</a:t>
              </a:r>
              <a:r>
                <a:rPr lang="en-US" sz="2200" dirty="0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 </a:t>
              </a:r>
              <a:r>
                <a:rPr lang="en-US" sz="2200" dirty="0" err="1">
                  <a:solidFill>
                    <a:srgbClr val="746558"/>
                  </a:solidFill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dụng</a:t>
              </a:r>
              <a:endParaRPr lang="en-US" sz="2200" dirty="0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5C7E618C-94F3-2C83-BF0F-9817E4957339}"/>
                </a:ext>
              </a:extLst>
            </p:cNvPr>
            <p:cNvSpPr/>
            <p:nvPr/>
          </p:nvSpPr>
          <p:spPr>
            <a:xfrm>
              <a:off x="1304092" y="2093446"/>
              <a:ext cx="456330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Phân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loại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các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thiết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bị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theo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nhu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cầu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của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r>
                <a:rPr lang="en-US" sz="1750" dirty="0" err="1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phòng</a:t>
              </a:r>
              <a:r>
                <a:rPr lang="en-US" sz="175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rPr>
                <a:t> </a:t>
              </a:r>
              <a:endParaRPr lang="en-US" sz="1750" dirty="0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9117" y="3760410"/>
            <a:ext cx="66465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Xuất dữ liệu thiết bị y tế</a:t>
            </a:r>
            <a:endParaRPr lang="en-US" sz="4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52F8AD-490A-E3A5-C12A-458D27C6F15C}"/>
              </a:ext>
            </a:extLst>
          </p:cNvPr>
          <p:cNvSpPr/>
          <p:nvPr/>
        </p:nvSpPr>
        <p:spPr>
          <a:xfrm>
            <a:off x="12644254" y="7439153"/>
            <a:ext cx="1922816" cy="70268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67575" y="489991"/>
            <a:ext cx="58934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Tìm kiếm thiết bị y tế</a:t>
            </a:r>
            <a:endParaRPr lang="en-US" sz="44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48BE20-EEBD-B367-8825-77658BE92263}"/>
              </a:ext>
            </a:extLst>
          </p:cNvPr>
          <p:cNvGrpSpPr/>
          <p:nvPr/>
        </p:nvGrpSpPr>
        <p:grpSpPr>
          <a:xfrm>
            <a:off x="607152" y="1763689"/>
            <a:ext cx="6853898" cy="2351111"/>
            <a:chOff x="521005" y="1881141"/>
            <a:chExt cx="6853898" cy="2351111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005" y="1881141"/>
              <a:ext cx="2504467" cy="907256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F967EC5-7714-BA9F-DEA5-F8155C54AC54}"/>
                </a:ext>
              </a:extLst>
            </p:cNvPr>
            <p:cNvGrpSpPr/>
            <p:nvPr/>
          </p:nvGrpSpPr>
          <p:grpSpPr>
            <a:xfrm>
              <a:off x="3480964" y="1882318"/>
              <a:ext cx="3893939" cy="2349934"/>
              <a:chOff x="1020604" y="5959078"/>
              <a:chExt cx="3893939" cy="2349934"/>
            </a:xfrm>
          </p:grpSpPr>
          <p:sp>
            <p:nvSpPr>
              <p:cNvPr id="5" name="Text 1"/>
              <p:cNvSpPr/>
              <p:nvPr/>
            </p:nvSpPr>
            <p:spPr>
              <a:xfrm>
                <a:off x="1020604" y="5959078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3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Nhập thông tin</a:t>
                </a:r>
                <a:endParaRPr lang="en-US" sz="2300" dirty="0"/>
              </a:p>
            </p:txBody>
          </p:sp>
          <p:sp>
            <p:nvSpPr>
              <p:cNvPr id="6" name="Text 2"/>
              <p:cNvSpPr/>
              <p:nvPr/>
            </p:nvSpPr>
            <p:spPr>
              <a:xfrm>
                <a:off x="1020604" y="6449497"/>
                <a:ext cx="3893939" cy="185951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-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Nhập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thông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 tin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của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thiết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 bị cần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tìm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.</a:t>
                </a:r>
              </a:p>
              <a:p>
                <a:pPr lvl="1">
                  <a:lnSpc>
                    <a:spcPts val="2850"/>
                  </a:lnSpc>
                </a:pP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+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Mã</a:t>
                </a:r>
                <a:endParaRPr lang="en-US" sz="23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endParaRPr>
              </a:p>
              <a:p>
                <a:pPr lvl="1">
                  <a:lnSpc>
                    <a:spcPts val="2850"/>
                  </a:lnSpc>
                </a:pP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+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Tên</a:t>
                </a:r>
                <a:endParaRPr lang="en-US" sz="23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endParaRPr>
              </a:p>
              <a:p>
                <a:pPr lvl="1">
                  <a:lnSpc>
                    <a:spcPts val="2850"/>
                  </a:lnSpc>
                </a:pP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+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Ngày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nhập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/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xuất</a:t>
                </a:r>
                <a:endParaRPr lang="en-US" sz="23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endParaRPr>
              </a:p>
              <a:p>
                <a:pPr lvl="1">
                  <a:lnSpc>
                    <a:spcPts val="2850"/>
                  </a:lnSpc>
                </a:pP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+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Phòng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sử</a:t>
                </a: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 </a:t>
                </a:r>
                <a:r>
                  <a:rPr lang="en-US" sz="2300" dirty="0" err="1">
                    <a:solidFill>
                      <a:srgbClr val="746558"/>
                    </a:solidFill>
                    <a:latin typeface="Gelasio" pitchFamily="34" charset="0"/>
                    <a:cs typeface="Gelasio" pitchFamily="34" charset="-120"/>
                  </a:rPr>
                  <a:t>dụng</a:t>
                </a:r>
                <a:endParaRPr lang="en-US" sz="2300" dirty="0">
                  <a:solidFill>
                    <a:srgbClr val="746558"/>
                  </a:solidFill>
                  <a:latin typeface="Gelasio" pitchFamily="34" charset="0"/>
                  <a:cs typeface="Gelasio" pitchFamily="34" charset="-12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6287CD-A6BE-D2CC-F59F-77BC366578F8}"/>
              </a:ext>
            </a:extLst>
          </p:cNvPr>
          <p:cNvGrpSpPr/>
          <p:nvPr/>
        </p:nvGrpSpPr>
        <p:grpSpPr>
          <a:xfrm>
            <a:off x="6020630" y="4582665"/>
            <a:ext cx="8609770" cy="1217473"/>
            <a:chOff x="368605" y="4703028"/>
            <a:chExt cx="8609770" cy="1217473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8605" y="4703028"/>
              <a:ext cx="2504467" cy="907256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C149B6B-52B4-9415-1F9D-7317AD1E834B}"/>
                </a:ext>
              </a:extLst>
            </p:cNvPr>
            <p:cNvGrpSpPr/>
            <p:nvPr/>
          </p:nvGrpSpPr>
          <p:grpSpPr>
            <a:xfrm>
              <a:off x="3617738" y="4704277"/>
              <a:ext cx="5360637" cy="1216224"/>
              <a:chOff x="5368171" y="5959078"/>
              <a:chExt cx="5360637" cy="1216224"/>
            </a:xfrm>
          </p:grpSpPr>
          <p:sp>
            <p:nvSpPr>
              <p:cNvPr id="8" name="Text 3"/>
              <p:cNvSpPr/>
              <p:nvPr/>
            </p:nvSpPr>
            <p:spPr>
              <a:xfrm>
                <a:off x="5368171" y="5959078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3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Tìm kiếm</a:t>
                </a:r>
                <a:endParaRPr lang="en-US" sz="2300" dirty="0"/>
              </a:p>
            </p:txBody>
          </p:sp>
          <p:sp>
            <p:nvSpPr>
              <p:cNvPr id="9" name="Text 4"/>
              <p:cNvSpPr/>
              <p:nvPr/>
            </p:nvSpPr>
            <p:spPr>
              <a:xfrm>
                <a:off x="5368171" y="6449497"/>
                <a:ext cx="5360637" cy="7258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Thực hiện tìm kiếm trong cây nhị phân.</a:t>
                </a:r>
                <a:endParaRPr lang="en-US" sz="2300" dirty="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C77D94-D0C6-0FD2-EEB8-5A35F8EBB5E0}"/>
              </a:ext>
            </a:extLst>
          </p:cNvPr>
          <p:cNvGrpSpPr/>
          <p:nvPr/>
        </p:nvGrpSpPr>
        <p:grpSpPr>
          <a:xfrm>
            <a:off x="784967" y="6531897"/>
            <a:ext cx="7143073" cy="907256"/>
            <a:chOff x="368604" y="6392526"/>
            <a:chExt cx="7143073" cy="907256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604" y="6392526"/>
              <a:ext cx="2504467" cy="907256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7FCB103-9CC8-C9EF-DB1E-946B2B6A6B10}"/>
                </a:ext>
              </a:extLst>
            </p:cNvPr>
            <p:cNvGrpSpPr/>
            <p:nvPr/>
          </p:nvGrpSpPr>
          <p:grpSpPr>
            <a:xfrm>
              <a:off x="3617738" y="6392526"/>
              <a:ext cx="3893939" cy="853322"/>
              <a:chOff x="9715738" y="5959078"/>
              <a:chExt cx="3893939" cy="853322"/>
            </a:xfrm>
          </p:grpSpPr>
          <p:sp>
            <p:nvSpPr>
              <p:cNvPr id="11" name="Text 5"/>
              <p:cNvSpPr/>
              <p:nvPr/>
            </p:nvSpPr>
            <p:spPr>
              <a:xfrm>
                <a:off x="9715738" y="5959078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300" dirty="0">
                    <a:solidFill>
                      <a:srgbClr val="746558"/>
                    </a:solidFill>
                    <a:latin typeface="Gelasio Semi Bold" pitchFamily="34" charset="0"/>
                    <a:ea typeface="Gelasio Semi Bold" pitchFamily="34" charset="-122"/>
                    <a:cs typeface="Gelasio Semi Bold" pitchFamily="34" charset="-120"/>
                  </a:rPr>
                  <a:t>Hiển thị kết quả</a:t>
                </a:r>
                <a:endParaRPr lang="en-US" sz="2300" dirty="0"/>
              </a:p>
            </p:txBody>
          </p:sp>
          <p:sp>
            <p:nvSpPr>
              <p:cNvPr id="12" name="Text 6"/>
              <p:cNvSpPr/>
              <p:nvPr/>
            </p:nvSpPr>
            <p:spPr>
              <a:xfrm>
                <a:off x="9715738" y="6449497"/>
                <a:ext cx="3893939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2300" dirty="0">
                    <a:solidFill>
                      <a:srgbClr val="746558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Hiển thị thông tin thiết bị tìm được.</a:t>
                </a:r>
                <a:endParaRPr lang="en-US" sz="2300" dirty="0"/>
              </a:p>
            </p:txBody>
          </p:sp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5556479-13FE-7625-D5F5-44598974C6F3}"/>
              </a:ext>
            </a:extLst>
          </p:cNvPr>
          <p:cNvSpPr/>
          <p:nvPr/>
        </p:nvSpPr>
        <p:spPr>
          <a:xfrm>
            <a:off x="12644254" y="7439153"/>
            <a:ext cx="1922816" cy="702687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403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Sắp xếp thiết bị y tế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94911" y="2451973"/>
            <a:ext cx="30480" cy="4374475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434822" y="2947035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55000" y="27071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3703" y="2823447"/>
            <a:ext cx="1604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678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Sắp xếp theo tên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3163728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Sắp xếp thiết bị theo thứ tự bảng chữ cái.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04342" y="448079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24520" y="424088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30843" y="4325898"/>
            <a:ext cx="20621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Sắp xếp theo mã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702969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Sắp xếp thiết bị theo mã số tăng dần.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01456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24520" y="577465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31438" y="5859661"/>
            <a:ext cx="20502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Sắp xếp theo loại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236732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Sắp xếp thiết bị theo phân loại.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69F26E-4F15-415D-A0AD-442F3010F945}"/>
              </a:ext>
            </a:extLst>
          </p:cNvPr>
          <p:cNvSpPr/>
          <p:nvPr/>
        </p:nvSpPr>
        <p:spPr>
          <a:xfrm>
            <a:off x="12035790" y="7475220"/>
            <a:ext cx="2594610" cy="75438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AA70-A225-D028-BFE6-B08778FF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D3D1B8B-C396-28C6-A44D-83EDBA3848D8}"/>
              </a:ext>
            </a:extLst>
          </p:cNvPr>
          <p:cNvSpPr/>
          <p:nvPr/>
        </p:nvSpPr>
        <p:spPr>
          <a:xfrm>
            <a:off x="878800" y="1354396"/>
            <a:ext cx="72224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Xóa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thông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tin </a:t>
            </a:r>
            <a:r>
              <a:rPr lang="en-US" sz="4450" dirty="0" err="1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thiết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bị y tế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805F657-0C59-E6A4-747B-7B1271BFC08B}"/>
              </a:ext>
            </a:extLst>
          </p:cNvPr>
          <p:cNvSpPr/>
          <p:nvPr/>
        </p:nvSpPr>
        <p:spPr>
          <a:xfrm>
            <a:off x="1118710" y="2451974"/>
            <a:ext cx="95489" cy="3400186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5CD8E2F-9300-91F8-6D41-F7DBD8C19963}"/>
              </a:ext>
            </a:extLst>
          </p:cNvPr>
          <p:cNvSpPr/>
          <p:nvPr/>
        </p:nvSpPr>
        <p:spPr>
          <a:xfrm>
            <a:off x="1358622" y="2947035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4113389-9803-19CF-05FF-D136AE948040}"/>
              </a:ext>
            </a:extLst>
          </p:cNvPr>
          <p:cNvSpPr/>
          <p:nvPr/>
        </p:nvSpPr>
        <p:spPr>
          <a:xfrm>
            <a:off x="878800" y="27071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3006AD-380D-3EF1-303B-EA149FA6A8AE}"/>
              </a:ext>
            </a:extLst>
          </p:cNvPr>
          <p:cNvSpPr/>
          <p:nvPr/>
        </p:nvSpPr>
        <p:spPr>
          <a:xfrm>
            <a:off x="1053703" y="2792135"/>
            <a:ext cx="1604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627EE72-2360-6812-D6B1-A9AB64F5A072}"/>
              </a:ext>
            </a:extLst>
          </p:cNvPr>
          <p:cNvSpPr/>
          <p:nvPr/>
        </p:nvSpPr>
        <p:spPr>
          <a:xfrm>
            <a:off x="2381488" y="2678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Xóa</a:t>
            </a: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theo</a:t>
            </a: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mã</a:t>
            </a:r>
            <a:endParaRPr lang="en-US" sz="2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D843DB4-E286-6C85-FFF7-F4A73F350E89}"/>
              </a:ext>
            </a:extLst>
          </p:cNvPr>
          <p:cNvSpPr/>
          <p:nvPr/>
        </p:nvSpPr>
        <p:spPr>
          <a:xfrm>
            <a:off x="1373861" y="408455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6ADD5F9-6BA6-5886-39E3-48A22E71CC02}"/>
              </a:ext>
            </a:extLst>
          </p:cNvPr>
          <p:cNvSpPr/>
          <p:nvPr/>
        </p:nvSpPr>
        <p:spPr>
          <a:xfrm>
            <a:off x="878800" y="388536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60CD529-5C44-4924-C999-BB01168BBBFF}"/>
              </a:ext>
            </a:extLst>
          </p:cNvPr>
          <p:cNvSpPr/>
          <p:nvPr/>
        </p:nvSpPr>
        <p:spPr>
          <a:xfrm>
            <a:off x="1030843" y="3985617"/>
            <a:ext cx="20621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F5DE025-11C9-F0AD-38B9-69A5F87F14F9}"/>
              </a:ext>
            </a:extLst>
          </p:cNvPr>
          <p:cNvSpPr/>
          <p:nvPr/>
        </p:nvSpPr>
        <p:spPr>
          <a:xfrm>
            <a:off x="2391609" y="38856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Xóa</a:t>
            </a: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theo</a:t>
            </a: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tên</a:t>
            </a:r>
            <a:endParaRPr lang="en-US" sz="2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F90C0F3-35EB-3AE2-C7D4-A69CA60027F1}"/>
              </a:ext>
            </a:extLst>
          </p:cNvPr>
          <p:cNvSpPr/>
          <p:nvPr/>
        </p:nvSpPr>
        <p:spPr>
          <a:xfrm>
            <a:off x="1445896" y="5274826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5495505-5404-242B-3AED-A104F7BED934}"/>
              </a:ext>
            </a:extLst>
          </p:cNvPr>
          <p:cNvSpPr/>
          <p:nvPr/>
        </p:nvSpPr>
        <p:spPr>
          <a:xfrm>
            <a:off x="909278" y="50196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6006F4E-44EC-E330-3D61-2CF47625E22A}"/>
              </a:ext>
            </a:extLst>
          </p:cNvPr>
          <p:cNvSpPr/>
          <p:nvPr/>
        </p:nvSpPr>
        <p:spPr>
          <a:xfrm>
            <a:off x="1031438" y="5079830"/>
            <a:ext cx="20502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FF524C1-40F7-9374-5C82-A4694E29E0C5}"/>
              </a:ext>
            </a:extLst>
          </p:cNvPr>
          <p:cNvSpPr/>
          <p:nvPr/>
        </p:nvSpPr>
        <p:spPr>
          <a:xfrm>
            <a:off x="2328506" y="5092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Xóa</a:t>
            </a: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theo</a:t>
            </a: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20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phòng</a:t>
            </a: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endParaRPr lang="en-US" sz="2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30EBA3-762E-4228-8B77-A754C87DB50F}"/>
              </a:ext>
            </a:extLst>
          </p:cNvPr>
          <p:cNvSpPr/>
          <p:nvPr/>
        </p:nvSpPr>
        <p:spPr>
          <a:xfrm>
            <a:off x="11573691" y="7197634"/>
            <a:ext cx="3056710" cy="1031966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3FB3A3-EC9E-4D75-853B-78CBBFB029CB}"/>
              </a:ext>
            </a:extLst>
          </p:cNvPr>
          <p:cNvGrpSpPr/>
          <p:nvPr/>
        </p:nvGrpSpPr>
        <p:grpSpPr>
          <a:xfrm>
            <a:off x="8801099" y="0"/>
            <a:ext cx="5829301" cy="8229600"/>
            <a:chOff x="8801100" y="0"/>
            <a:chExt cx="5829301" cy="82296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0246F9-48C7-6183-D148-0CDCABEE5414}"/>
                </a:ext>
              </a:extLst>
            </p:cNvPr>
            <p:cNvSpPr/>
            <p:nvPr/>
          </p:nvSpPr>
          <p:spPr>
            <a:xfrm>
              <a:off x="12644254" y="7439153"/>
              <a:ext cx="1922816" cy="702687"/>
            </a:xfrm>
            <a:prstGeom prst="rect">
              <a:avLst/>
            </a:prstGeom>
            <a:solidFill>
              <a:srgbClr val="F9F6F0"/>
            </a:solidFill>
            <a:ln>
              <a:solidFill>
                <a:srgbClr val="F9F6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78DB51-26AC-4321-8C2E-7D3A0DFE4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01100" y="970717"/>
              <a:ext cx="5829300" cy="58293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A3834F-75CD-4A8C-B2C9-1A6C41E03D5A}"/>
                </a:ext>
              </a:extLst>
            </p:cNvPr>
            <p:cNvSpPr/>
            <p:nvPr/>
          </p:nvSpPr>
          <p:spPr>
            <a:xfrm>
              <a:off x="8801100" y="0"/>
              <a:ext cx="5829301" cy="11876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E5F3541-C1F5-4694-8CF2-B4EA4600E91A}"/>
                </a:ext>
              </a:extLst>
            </p:cNvPr>
            <p:cNvSpPr/>
            <p:nvPr/>
          </p:nvSpPr>
          <p:spPr>
            <a:xfrm>
              <a:off x="8801101" y="6800017"/>
              <a:ext cx="5829300" cy="1429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823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2308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Thêm, chỉnh sửa thiết </a:t>
            </a:r>
            <a:r>
              <a:rPr lang="en-US" sz="445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bị </a:t>
            </a:r>
          </a:p>
          <a:p>
            <a:pPr marL="0" indent="0">
              <a:lnSpc>
                <a:spcPts val="5550"/>
              </a:lnSpc>
              <a:buNone/>
            </a:pPr>
            <a:r>
              <a:rPr lang="en-US" sz="445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y 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tế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8859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78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Thêm thiết bị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272802"/>
            <a:ext cx="3608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Tạo một bản ghi mới cho thiết bị.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021" y="398859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478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Chỉnh sửa thiết bị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42021" y="5272802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Cập nhật thông tin của thiết bị đã tồn tại.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4D9A27-1E2E-4757-99B7-63D8C9A6EFAD}"/>
              </a:ext>
            </a:extLst>
          </p:cNvPr>
          <p:cNvSpPr/>
          <p:nvPr/>
        </p:nvSpPr>
        <p:spPr>
          <a:xfrm>
            <a:off x="11438021" y="7122695"/>
            <a:ext cx="3192379" cy="1106905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4D35386-C5D4-4810-B975-1E0B870486B8}"/>
              </a:ext>
            </a:extLst>
          </p:cNvPr>
          <p:cNvSpPr txBox="1"/>
          <p:nvPr/>
        </p:nvSpPr>
        <p:spPr>
          <a:xfrm>
            <a:off x="3621506" y="2591306"/>
            <a:ext cx="738738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0" b="1">
                <a:solidFill>
                  <a:srgbClr val="484237"/>
                </a:solidFill>
                <a:latin typeface=".VnArial Narrow" panose="020B7200000000000000" pitchFamily="34" charset="0"/>
              </a:rPr>
              <a:t>Thank you</a:t>
            </a:r>
          </a:p>
          <a:p>
            <a:pPr algn="ctr"/>
            <a:r>
              <a:rPr lang="en-US" sz="10000" b="1">
                <a:solidFill>
                  <a:srgbClr val="484237"/>
                </a:solidFill>
                <a:latin typeface=".VnArial Narrow" panose="020B7200000000000000" pitchFamily="34" charset="0"/>
              </a:rPr>
              <a:t>for listening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C3833D-8A17-4E2C-8793-7EAB11C336C3}"/>
              </a:ext>
            </a:extLst>
          </p:cNvPr>
          <p:cNvSpPr/>
          <p:nvPr/>
        </p:nvSpPr>
        <p:spPr>
          <a:xfrm>
            <a:off x="12577011" y="7379368"/>
            <a:ext cx="2053389" cy="850232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04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459</Words>
  <Application>Microsoft Office PowerPoint</Application>
  <PresentationFormat>Custom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Wingdings</vt:lpstr>
      <vt:lpstr>Gelasio</vt:lpstr>
      <vt:lpstr>Gelasio Semi Bold</vt:lpstr>
      <vt:lpstr>.VnArial Narrow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Maxsys</cp:lastModifiedBy>
  <cp:revision>12</cp:revision>
  <dcterms:created xsi:type="dcterms:W3CDTF">2024-11-26T07:49:39Z</dcterms:created>
  <dcterms:modified xsi:type="dcterms:W3CDTF">2024-11-26T11:28:32Z</dcterms:modified>
</cp:coreProperties>
</file>